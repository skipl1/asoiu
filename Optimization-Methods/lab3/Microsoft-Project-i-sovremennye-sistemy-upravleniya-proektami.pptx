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Mona Sans Semi Bold"/>
      <p:regular r:id="rId17"/>
    </p:embeddedFont>
    <p:embeddedFont>
      <p:font typeface="Mona Sans Semi Bold"/>
      <p:regular r:id="rId18"/>
    </p:embeddedFont>
    <p:embeddedFont>
      <p:font typeface="Mona Sans Semi Bold"/>
      <p:regular r:id="rId19"/>
    </p:embeddedFont>
    <p:embeddedFont>
      <p:font typeface="Mona Sans Semi Bold"/>
      <p:regular r:id="rId20"/>
    </p:embeddedFont>
    <p:embeddedFont>
      <p:font typeface="Funnel Sans"/>
      <p:regular r:id="rId21"/>
    </p:embeddedFont>
    <p:embeddedFont>
      <p:font typeface="Funnel Sans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5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slideLayout" Target="../slideLayouts/slideLayout9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0"/>
            <a:ext cx="6035040" cy="8229600"/>
          </a:xfrm>
          <a:prstGeom prst="rect">
            <a:avLst/>
          </a:prstGeom>
          <a:solidFill>
            <a:srgbClr val="40404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3366" y="2635568"/>
            <a:ext cx="4733449" cy="29584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2518648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Microsoft Project и современные системы управления проектами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498514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Обзор, сравнение и выбор инструментов для оптимизации рабочих процессов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12846" y="497681"/>
            <a:ext cx="9161740" cy="498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Зачем нужны системы управления проектами?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1812846" y="3066693"/>
            <a:ext cx="3598664" cy="1521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Project Management System (PMS) — это программное обеспечение, которое помогает планировать, отслеживать и управлять проектами в реальном времени. Современные системы автоматизируют рутинные задачи, централизуют данные и обеспечивают прозрачность процессов.</a:t>
            </a:r>
            <a:endParaRPr lang="en-US" sz="12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8226" y="1290280"/>
            <a:ext cx="7016710" cy="50738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812846" y="6616303"/>
            <a:ext cx="3593425" cy="1115497"/>
          </a:xfrm>
          <a:prstGeom prst="roundRect">
            <a:avLst>
              <a:gd name="adj" fmla="val 9837"/>
            </a:avLst>
          </a:prstGeom>
          <a:solidFill>
            <a:srgbClr val="181616">
              <a:alpha val="95000"/>
            </a:srgbClr>
          </a:solidFill>
          <a:ln w="22860">
            <a:solidFill>
              <a:srgbClr val="59595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789986" y="6616303"/>
            <a:ext cx="91440" cy="1115497"/>
          </a:xfrm>
          <a:prstGeom prst="roundRect">
            <a:avLst>
              <a:gd name="adj" fmla="val 73256"/>
            </a:avLst>
          </a:prstGeom>
          <a:solidFill>
            <a:srgbClr val="FFFFFF"/>
          </a:solidFill>
          <a:ln/>
        </p:spPr>
      </p:sp>
      <p:sp>
        <p:nvSpPr>
          <p:cNvPr id="7" name="Text 4"/>
          <p:cNvSpPr/>
          <p:nvPr/>
        </p:nvSpPr>
        <p:spPr>
          <a:xfrm>
            <a:off x="2063710" y="6798588"/>
            <a:ext cx="1993583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Хаос в задачах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2063710" y="7114937"/>
            <a:ext cx="3160276" cy="434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Разрозненные данные в Excel, почте и мессенджерах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518309" y="6616303"/>
            <a:ext cx="3593544" cy="1115497"/>
          </a:xfrm>
          <a:prstGeom prst="roundRect">
            <a:avLst>
              <a:gd name="adj" fmla="val 9837"/>
            </a:avLst>
          </a:prstGeom>
          <a:solidFill>
            <a:srgbClr val="181616">
              <a:alpha val="95000"/>
            </a:srgbClr>
          </a:solidFill>
          <a:ln w="22860">
            <a:solidFill>
              <a:srgbClr val="59595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95449" y="6616303"/>
            <a:ext cx="91440" cy="1115497"/>
          </a:xfrm>
          <a:prstGeom prst="roundRect">
            <a:avLst>
              <a:gd name="adj" fmla="val 73256"/>
            </a:avLst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5769173" y="6798588"/>
            <a:ext cx="2171462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Просрочки дедлайнов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5769173" y="7114937"/>
            <a:ext cx="3160395" cy="434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Отсутствие единой системы отслеживания сроков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9223891" y="6616303"/>
            <a:ext cx="3593544" cy="1115497"/>
          </a:xfrm>
          <a:prstGeom prst="roundRect">
            <a:avLst>
              <a:gd name="adj" fmla="val 9837"/>
            </a:avLst>
          </a:prstGeom>
          <a:solidFill>
            <a:srgbClr val="181616">
              <a:alpha val="95000"/>
            </a:srgbClr>
          </a:solidFill>
          <a:ln w="22860">
            <a:solidFill>
              <a:srgbClr val="59595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201031" y="6616303"/>
            <a:ext cx="91440" cy="1115497"/>
          </a:xfrm>
          <a:prstGeom prst="roundRect">
            <a:avLst>
              <a:gd name="adj" fmla="val 73256"/>
            </a:avLst>
          </a:pr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9474756" y="6798588"/>
            <a:ext cx="1993583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Нехватка ресурсов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9474756" y="7114937"/>
            <a:ext cx="3160395" cy="434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Сложность планирования загрузки команды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0"/>
            <a:ext cx="603504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6642" y="636865"/>
            <a:ext cx="7630716" cy="1351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Microsoft Project: Индустриальный стандарт</a:t>
            </a:r>
            <a:endParaRPr lang="en-US" sz="4250" dirty="0"/>
          </a:p>
        </p:txBody>
      </p:sp>
      <p:sp>
        <p:nvSpPr>
          <p:cNvPr id="4" name="Text 1"/>
          <p:cNvSpPr/>
          <p:nvPr/>
        </p:nvSpPr>
        <p:spPr>
          <a:xfrm>
            <a:off x="756642" y="2297311"/>
            <a:ext cx="7630716" cy="1688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Microsoft Project — это легендарный инструмент управления проектами, разработанный корпорацией Microsoft. Запущенный в 1990 году, он стал де-факто стандартом в корпоративном сегменте и до сих пор занимает лидирующие позиции в области управления сложными проектами.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756642" y="4218027"/>
            <a:ext cx="3712369" cy="1922145"/>
          </a:xfrm>
          <a:prstGeom prst="roundRect">
            <a:avLst>
              <a:gd name="adj" fmla="val 4724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80361" y="4441746"/>
            <a:ext cx="3246715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Корпоративный сегмент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980361" y="4903113"/>
            <a:ext cx="3264932" cy="1013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Используется крупными компаниями для управления сложными программами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674989" y="4218027"/>
            <a:ext cx="3712369" cy="1922145"/>
          </a:xfrm>
          <a:prstGeom prst="roundRect">
            <a:avLst>
              <a:gd name="adj" fmla="val 4724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98707" y="4441746"/>
            <a:ext cx="2875240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Мощный функционал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4898707" y="4903113"/>
            <a:ext cx="3264932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Глубокая настройка всех аспектов проекта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56642" y="6346150"/>
            <a:ext cx="7630716" cy="1246584"/>
          </a:xfrm>
          <a:prstGeom prst="roundRect">
            <a:avLst>
              <a:gd name="adj" fmla="val 7284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0361" y="6569869"/>
            <a:ext cx="2974419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Интеграция Office 365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980361" y="7031236"/>
            <a:ext cx="7183279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Полная совместимость с экосистемой Microsoft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27597"/>
            <a:ext cx="979872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Ключевые возможности MS Project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2890004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4253" y="28900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Диаграмма Ганта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644253" y="3380423"/>
            <a:ext cx="552914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Визуализация временных рамок задач и зависимостей между ними. Классический инструмент для управления сроками проекта.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56884" y="2890004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307348" y="28900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Сетевые графики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8307348" y="3380423"/>
            <a:ext cx="552926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Построение критического пути и анализ зависимостей задач. Позволяет оптимизировать последовательность работ.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4922758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44253" y="4922758"/>
            <a:ext cx="321075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Управление ресурсами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644253" y="5413177"/>
            <a:ext cx="552914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Детальное планирование загрузки команды, отслеживание занятости и распределение задач между исполнителями.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56884" y="4922758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307348" y="49227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Бюджетирование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8307348" y="5413177"/>
            <a:ext cx="552926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Контроль затрат проекта, расчет стоимости ресурсов и отслеживание отклонений от финансового плана.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3504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8366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Плюсы и минусы Microsoft Project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276820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Плюсы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6280190" y="3420308"/>
            <a:ext cx="3501509" cy="394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Мощнейший функционал для сложных проектов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Глубокая интеграция с Office 365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Поддержка методологии критического пути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Гибкие возможности отчетности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Локальная версия для работы без интернета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10342721" y="276820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Минусы</a:t>
            </a:r>
            <a:endParaRPr lang="en-US" sz="2650" dirty="0"/>
          </a:p>
        </p:txBody>
      </p:sp>
      <p:sp>
        <p:nvSpPr>
          <p:cNvPr id="7" name="Text 4"/>
          <p:cNvSpPr/>
          <p:nvPr/>
        </p:nvSpPr>
        <p:spPr>
          <a:xfrm>
            <a:off x="10342721" y="3420308"/>
            <a:ext cx="3501509" cy="394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Высокий порог входа и сложность освоения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Дорогая лицензия для команды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Избыточность для малых проектов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Медленное развитие облачной версии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Неудобный интерфейс для Agile-команд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3504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8158" y="596027"/>
            <a:ext cx="7680484" cy="130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00"/>
              </a:lnSpc>
              <a:buNone/>
            </a:pPr>
            <a:r>
              <a:rPr lang="en-US" sz="41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Эволюция рынка: Почему появились аналоги?</a:t>
            </a:r>
            <a:endParaRPr lang="en-US" sz="4100" dirty="0"/>
          </a:p>
        </p:txBody>
      </p:sp>
      <p:sp>
        <p:nvSpPr>
          <p:cNvPr id="4" name="Text 1"/>
          <p:cNvSpPr/>
          <p:nvPr/>
        </p:nvSpPr>
        <p:spPr>
          <a:xfrm>
            <a:off x="6218158" y="2191941"/>
            <a:ext cx="7680484" cy="964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В последние годы рынок PMS претерпел значительные изменения, что привело к появлению множества современных альтернатив традиционным инструментам.</a:t>
            </a:r>
            <a:endParaRPr lang="en-US" sz="16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8158" y="3372803"/>
            <a:ext cx="1045488" cy="150304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456408" y="3581876"/>
            <a:ext cx="3277195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Облачные решения SaaS</a:t>
            </a:r>
            <a:endParaRPr lang="en-US" sz="2050" dirty="0"/>
          </a:p>
        </p:txBody>
      </p:sp>
      <p:sp>
        <p:nvSpPr>
          <p:cNvPr id="7" name="Text 3"/>
          <p:cNvSpPr/>
          <p:nvPr/>
        </p:nvSpPr>
        <p:spPr>
          <a:xfrm>
            <a:off x="7456408" y="4024074"/>
            <a:ext cx="6442234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Доступ из любой точки, быстрое развертывание, подписка вместо лицензий</a:t>
            </a:r>
            <a:endParaRPr lang="en-US" sz="16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8158" y="4875848"/>
            <a:ext cx="1045488" cy="150304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456408" y="5084921"/>
            <a:ext cx="2640211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Гибкие методологии</a:t>
            </a:r>
            <a:endParaRPr lang="en-US" sz="2050" dirty="0"/>
          </a:p>
        </p:txBody>
      </p:sp>
      <p:sp>
        <p:nvSpPr>
          <p:cNvPr id="10" name="Text 5"/>
          <p:cNvSpPr/>
          <p:nvPr/>
        </p:nvSpPr>
        <p:spPr>
          <a:xfrm>
            <a:off x="7456408" y="5527119"/>
            <a:ext cx="6442234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Поддержка Agile, Scrum и Kanban для быстрой адаптации к изменениям</a:t>
            </a:r>
            <a:endParaRPr lang="en-US" sz="16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8158" y="6378893"/>
            <a:ext cx="1045488" cy="125456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456408" y="6587966"/>
            <a:ext cx="2769513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Простота интерфейса</a:t>
            </a:r>
            <a:endParaRPr lang="en-US" sz="2050" dirty="0"/>
          </a:p>
        </p:txBody>
      </p:sp>
      <p:sp>
        <p:nvSpPr>
          <p:cNvPr id="13" name="Text 7"/>
          <p:cNvSpPr/>
          <p:nvPr/>
        </p:nvSpPr>
        <p:spPr>
          <a:xfrm>
            <a:off x="7456408" y="7030164"/>
            <a:ext cx="6442234" cy="32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Интуитивное управление без специального обучения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86884"/>
            <a:ext cx="790991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Корпоративные тяжеловесы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4929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Мощные системы для управления крупными проектами и программами</a:t>
            </a:r>
            <a:endParaRPr lang="en-US" sz="1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567345"/>
            <a:ext cx="3700105" cy="228683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51376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Oracle Primavera P6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5628084"/>
            <a:ext cx="6379607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Профессиональное решение для управления портфелями проектов. Используется в строительстве, энергетике и инфраструктурных проектах. Поддерживает сложные матрицы ресурсов и мультипроектное планирование.</a:t>
            </a:r>
            <a:endParaRPr lang="en-US" sz="1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6884" y="2567345"/>
            <a:ext cx="3700224" cy="228683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56884" y="51376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8F8F8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GanttPRO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7456884" y="5628084"/>
            <a:ext cx="637972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Современная облачная альтернатива MS Project с фокусом на диаграммах Ганта. Интуитивный интерфейс, быстрое создание графиков, хорошая цена для средних команд.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21080"/>
            <a:ext cx="954155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Гибкие и командные инструменты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8348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Системы для Agile-команд и визуального управления проектами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801541"/>
            <a:ext cx="4196358" cy="4406860"/>
          </a:xfrm>
          <a:prstGeom prst="roundRect">
            <a:avLst>
              <a:gd name="adj" fmla="val 2270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8224" y="303597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15390" y="3223022"/>
            <a:ext cx="306110" cy="3061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8224" y="394323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Jira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28224" y="4433649"/>
            <a:ext cx="3727490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Инструмент Atlassian для команд разработчиков. Идеально подходит для работы по методологиям Agile и Scrum. Гибкая настройка workflows, интеграция с DevOps-инструментами.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5216962" y="2801541"/>
            <a:ext cx="4196358" cy="4406860"/>
          </a:xfrm>
          <a:prstGeom prst="roundRect">
            <a:avLst>
              <a:gd name="adj" fmla="val 2270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51396" y="303597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562" y="3223022"/>
            <a:ext cx="306110" cy="3061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51396" y="394323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Asana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5451396" y="4433649"/>
            <a:ext cx="3727490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Универсальная система для управления задачами. Гибкие представления проектов (списки, таблицы, диаграммы), автоматизация рутинных процессов, простой интерфейс.</a:t>
            </a:r>
            <a:endParaRPr lang="en-US" sz="1750" dirty="0"/>
          </a:p>
        </p:txBody>
      </p:sp>
      <p:sp>
        <p:nvSpPr>
          <p:cNvPr id="14" name="Shape 10"/>
          <p:cNvSpPr/>
          <p:nvPr/>
        </p:nvSpPr>
        <p:spPr>
          <a:xfrm>
            <a:off x="9640133" y="2801541"/>
            <a:ext cx="4196358" cy="4406860"/>
          </a:xfrm>
          <a:prstGeom prst="roundRect">
            <a:avLst>
              <a:gd name="adj" fmla="val 2270"/>
            </a:avLst>
          </a:prstGeom>
          <a:solidFill>
            <a:srgbClr val="404040"/>
          </a:solidFill>
          <a:ln w="7620">
            <a:solidFill>
              <a:srgbClr val="595959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874568" y="303597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61734" y="3223022"/>
            <a:ext cx="306110" cy="30611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74568" y="394323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Monday.com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9874568" y="4433649"/>
            <a:ext cx="3727490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Визуальная платформа для управления проектами с кастомизируемыми дашбордами. Подходит для разных типов команд, от маркетинга до продаж.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46014" y="486728"/>
            <a:ext cx="6065639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Визуальные доски и легкость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6014" y="1353145"/>
            <a:ext cx="7484507" cy="50237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46014" y="6520339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Trello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1446014" y="6913602"/>
            <a:ext cx="7484507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Классическая доска Kanban для визуального управления задачами. Цветные карточки, списки, простой drag-and-drop интерфейс. Идеально для малых команд и простых проектов.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3193" y="2638782"/>
            <a:ext cx="3838575" cy="197619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353193" y="4758452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Notion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9353193" y="5151715"/>
            <a:ext cx="3838575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Гибридная платформа для ведения баз данных, документации и проектов. Создание вики, заметок и задач в одном месте. Высокая гибкость и кастомизация под нужды команды.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55909"/>
            <a:ext cx="669345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DDDDDD"/>
                </a:solidFill>
                <a:latin typeface="Mona Sans Semi Bold" pitchFamily="34" charset="0"/>
                <a:ea typeface="Mona Sans Semi Bold" pitchFamily="34" charset="-122"/>
                <a:cs typeface="Mona Sans Semi Bold" pitchFamily="34" charset="-120"/>
              </a:rPr>
              <a:t>Сравнительная таблица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718316"/>
            <a:ext cx="13042821" cy="3955256"/>
          </a:xfrm>
          <a:prstGeom prst="roundRect">
            <a:avLst>
              <a:gd name="adj" fmla="val 2409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462" y="2869644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Критерий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4289108" y="2869644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Microsoft Project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45943" y="2869644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Jira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0802779" y="2869644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Monday.com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028462" y="3527584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Цена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4289108" y="3527584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Высокая (лицензии)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45943" y="3527584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Средняя (подписка)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10802779" y="3527584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Средняя (подписка)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028462" y="4185523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Сложность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4289108" y="4185523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Высокая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545943" y="4185523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Средняя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10802779" y="4185523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Низкая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1028462" y="4843463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Тип проектов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4289108" y="4843463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Сложные, Waterfall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7545943" y="4843463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Agile, Dev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10802779" y="4843463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Универсальные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1028462" y="5501402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Облако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4289108" y="5501402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Ограниченная версия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7545943" y="5501402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Полностью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10802779" y="5501402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Полностью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1028462" y="6159341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Интеграции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4289108" y="6159341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Office 365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7545943" y="6159341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DevOps инструменты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10802779" y="6159341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1000+ сервисов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2026-04-10T17:33:37Z</dcterms:created>
  <dcterms:modified xsi:type="dcterms:W3CDTF">2026-04-10T17:33:37Z</dcterms:modified>
</cp:coreProperties>
</file>